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9" r:id="rId2"/>
    <p:sldId id="260" r:id="rId3"/>
    <p:sldId id="257" r:id="rId4"/>
    <p:sldId id="258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33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9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9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71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84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9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65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54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3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329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223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47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424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290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76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24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E0DED8B-9452-43C9-87D2-F3B0FC5715F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39289-2BA2-473F-9993-F9C2138E6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01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508000"/>
            <a:ext cx="12115800" cy="795867"/>
          </a:xfrm>
        </p:spPr>
        <p:txBody>
          <a:bodyPr/>
          <a:lstStyle/>
          <a:p>
            <a:pPr algn="ctr"/>
            <a:r>
              <a:rPr lang="en-US" b="1" dirty="0" smtClean="0"/>
              <a:t>EXECUTIVE 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company has been running multiple marketing campaigns across various channels (Facebook, Instagram, Pinterest) to promote our products. We have collected detailed data o</a:t>
            </a:r>
            <a:r>
              <a:rPr lang="en-US" u="sng" dirty="0"/>
              <a:t>n daily ad performance, including metrics like impressions, clicks, spend, conversions, and engagement (likes, shares, comments). </a:t>
            </a:r>
            <a:r>
              <a:rPr lang="en-US" dirty="0"/>
              <a:t>This project aims to analyze this data to gain insights into the effectiveness of our campaigns, optimize our ad spend, and improve future marketing strategies.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023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INSIGHTS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Campaign Performance</a:t>
            </a:r>
          </a:p>
          <a:p>
            <a:r>
              <a:rPr lang="en-US" dirty="0" smtClean="0"/>
              <a:t>2. Channel Effectiveness</a:t>
            </a:r>
          </a:p>
          <a:p>
            <a:r>
              <a:rPr lang="en-US" dirty="0" smtClean="0"/>
              <a:t>3. Geographical Insights</a:t>
            </a:r>
          </a:p>
          <a:p>
            <a:r>
              <a:rPr lang="en-US" dirty="0" smtClean="0"/>
              <a:t>4. Device Performance</a:t>
            </a:r>
          </a:p>
          <a:p>
            <a:r>
              <a:rPr lang="en-US" dirty="0" smtClean="0"/>
              <a:t>5. Ad-Level Analysis</a:t>
            </a:r>
          </a:p>
          <a:p>
            <a:r>
              <a:rPr lang="en-US" dirty="0" smtClean="0"/>
              <a:t>6. ROI Calculation</a:t>
            </a:r>
          </a:p>
          <a:p>
            <a:r>
              <a:rPr lang="en-US" dirty="0" smtClean="0"/>
              <a:t>7. Time Series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253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194733"/>
            <a:ext cx="2345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KEY POINTS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-25400" y="531863"/>
            <a:ext cx="259080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latin typeface="Calibri" panose="020F0502020204030204" pitchFamily="34" charset="0"/>
                <a:cs typeface="Calibri" panose="020F0502020204030204" pitchFamily="34" charset="0"/>
              </a:rPr>
              <a:t>OBJ 1</a:t>
            </a:r>
            <a:endParaRPr lang="en-US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Overall campaign performance was highest in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based on the metrics assessed.</a:t>
            </a:r>
            <a:b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Metrics Include: </a:t>
            </a: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Likes – 219K</a:t>
            </a:r>
            <a:b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Comments – 27K</a:t>
            </a:r>
            <a:b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Shares – 47K</a:t>
            </a:r>
          </a:p>
          <a:p>
            <a:endParaRPr lang="en-US" sz="1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Clicks – 85K</a:t>
            </a:r>
          </a:p>
          <a:p>
            <a:pPr marL="285750" indent="-285750">
              <a:buFontTx/>
              <a:buChar char="-"/>
            </a:pP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Conversions – 15K</a:t>
            </a:r>
          </a:p>
          <a:p>
            <a:pPr marL="285750" indent="-285750">
              <a:buFontTx/>
              <a:buChar char="-"/>
            </a:pP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Impression – 6.43M</a:t>
            </a:r>
            <a:b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 smtClean="0">
                <a:latin typeface="Calibri" panose="020F0502020204030204" pitchFamily="34" charset="0"/>
                <a:cs typeface="Calibri" panose="020F0502020204030204" pitchFamily="34" charset="0"/>
              </a:rPr>
              <a:t>OBJ 2</a:t>
            </a:r>
            <a:endParaRPr lang="en-US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Facebook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was the most effective channel with approximately 70K Clicks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636" y="9236"/>
            <a:ext cx="9626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34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127" y="73891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KEY POINTS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3127" y="443223"/>
            <a:ext cx="2235200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 smtClean="0"/>
              <a:t>OBJ 3</a:t>
            </a:r>
          </a:p>
          <a:p>
            <a:pPr marL="285750" indent="-285750">
              <a:buFontTx/>
              <a:buChar char="-"/>
            </a:pPr>
            <a: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Manchester</a:t>
            </a: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 is the city with the </a:t>
            </a:r>
            <a: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highest likes “213K”.</a:t>
            </a:r>
            <a:b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However, London has the highest engagement rate with 31K Comments &amp; 44K Shares</a:t>
            </a:r>
          </a:p>
          <a:p>
            <a:pPr marL="285750" indent="-285750">
              <a:buFontTx/>
              <a:buChar char="-"/>
            </a:pPr>
            <a: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Manchester</a:t>
            </a: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 is the city with the highest conversion rate of 38%.</a:t>
            </a:r>
          </a:p>
          <a:p>
            <a:pPr marL="285750" indent="-285750">
              <a:buFontTx/>
              <a:buChar char="-"/>
            </a:pPr>
            <a:endParaRPr lang="en-US" sz="1600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u="sng" dirty="0" smtClean="0"/>
              <a:t/>
            </a:r>
            <a:br>
              <a:rPr lang="en-US" sz="1600" b="1" u="sng" dirty="0" smtClean="0"/>
            </a:br>
            <a:endParaRPr lang="en-US" sz="1600" b="1" u="sng" dirty="0" smtClean="0"/>
          </a:p>
          <a:p>
            <a:endParaRPr lang="en-US" sz="1600" b="1" u="sng" dirty="0" smtClean="0"/>
          </a:p>
          <a:p>
            <a:endParaRPr lang="en-US" sz="1600" b="1" u="sng" dirty="0"/>
          </a:p>
          <a:p>
            <a:endParaRPr lang="en-US" sz="1600" b="1" u="sng" dirty="0" smtClean="0"/>
          </a:p>
          <a:p>
            <a:endParaRPr lang="en-US" sz="1600" b="1" u="sng" dirty="0"/>
          </a:p>
          <a:p>
            <a:r>
              <a:rPr lang="en-US" sz="1600" b="1" u="sng" dirty="0" smtClean="0"/>
              <a:t>OBJ 4</a:t>
            </a:r>
            <a:br>
              <a:rPr lang="en-US" sz="1600" b="1" u="sng" dirty="0" smtClean="0"/>
            </a:br>
            <a:r>
              <a:rPr lang="en-US" sz="1600" dirty="0" smtClean="0"/>
              <a:t>Desktop had the highest rate of conversion with 24%</a:t>
            </a:r>
            <a:r>
              <a:rPr lang="en-US" sz="1600" b="1" u="sng" dirty="0" smtClean="0"/>
              <a:t/>
            </a:r>
            <a:br>
              <a:rPr lang="en-US" sz="1600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endParaRPr lang="en-US" b="1" u="sn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327" y="0"/>
            <a:ext cx="9873673" cy="5892800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3"/>
          <a:stretch>
            <a:fillRect/>
          </a:stretch>
        </p:blipFill>
        <p:spPr>
          <a:xfrm>
            <a:off x="2251651" y="5837382"/>
            <a:ext cx="9940349" cy="1020618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33338" y="4447509"/>
            <a:ext cx="2251651" cy="489528"/>
          </a:xfrm>
          <a:prstGeom prst="rightArrow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AD Level Analysis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4611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6945" y="2198255"/>
            <a:ext cx="9494982" cy="4548908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576945" y="175491"/>
            <a:ext cx="9494982" cy="1911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309" y="175491"/>
            <a:ext cx="24476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Charactersistics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16452" y="2668633"/>
            <a:ext cx="2364508" cy="424872"/>
          </a:xfrm>
          <a:prstGeom prst="rightArrow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ROI</a:t>
            </a:r>
            <a:endParaRPr lang="en-US" b="1" dirty="0"/>
          </a:p>
        </p:txBody>
      </p:sp>
      <p:sp>
        <p:nvSpPr>
          <p:cNvPr id="9" name="Right Arrow 8"/>
          <p:cNvSpPr/>
          <p:nvPr/>
        </p:nvSpPr>
        <p:spPr>
          <a:xfrm>
            <a:off x="129309" y="637308"/>
            <a:ext cx="2251651" cy="489528"/>
          </a:xfrm>
          <a:prstGeom prst="rightArrow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AD Level Analysis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004693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3361</TotalTime>
  <Words>153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Century Gothic</vt:lpstr>
      <vt:lpstr>Wingdings 3</vt:lpstr>
      <vt:lpstr>Ion</vt:lpstr>
      <vt:lpstr>EXECUTIVE SUMMARY</vt:lpstr>
      <vt:lpstr>INSIGHTS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20</cp:revision>
  <dcterms:created xsi:type="dcterms:W3CDTF">2025-06-29T16:53:56Z</dcterms:created>
  <dcterms:modified xsi:type="dcterms:W3CDTF">2025-07-06T18:59:17Z</dcterms:modified>
</cp:coreProperties>
</file>